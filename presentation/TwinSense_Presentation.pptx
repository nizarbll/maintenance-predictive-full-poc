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6400">
                <a:solidFill>
                  <a:srgbClr val="0055FF"/>
                </a:solidFill>
                <a:latin typeface="Segoe UI"/>
              </a:defRPr>
            </a:pPr>
            <a:r>
              <a:t>TwinSense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A2540"/>
                </a:solidFill>
                <a:latin typeface="Segoe UI"/>
              </a:defRPr>
            </a:pPr>
            <a:r>
              <a:t>ARCHITECTURE DATAOPS &amp; MLOPS POUR LA MAINTENANCE PRÉDICTIVE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46E82"/>
                </a:solidFill>
                <a:latin typeface="Segoe UI"/>
              </a:defRPr>
            </a:pPr>
            <a:r>
              <a:t>Nizar Baloubali • Manal Es-sobhy • Anas El Maslouti • Nouamane Chaibi • Amine Ait Hamma</a:t>
            </a:r>
            <a:br/>
            <a:r>
              <a:t>Encadré par : Mr. El Hajji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A2540"/>
                </a:solidFill>
                <a:latin typeface="Segoe UI"/>
              </a:defRPr>
            </a:pPr>
            <a:r>
              <a:t>1. L'Enjeu Industriel de l'Aérospatiale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Le secteur aérospatial ne tolère aucune marge d'erreur.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Les défaillances de moteurs en plein vol entraînent des conséquences catastrophiques.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Maintenance Réactive (Run-to-Failure) : Inenvisageable sur des turbofans critiques.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Maintenance Préventive : Remplacement à intervalles fixes gaspille des pièces saines.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Notre Solution : La Maintenance Prédictive.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Prédire la Durée de Vie Résiduelle (RUL) grâce au Machine Learning.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A2540"/>
                </a:solidFill>
                <a:latin typeface="Segoe UI"/>
              </a:defRPr>
            </a:pPr>
            <a:r>
              <a:t>2. Fondation des Données : NASA CMAPSS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Pour simuler fidèlement ce comportement, nous avons exploité le Commercial Modular Aero-Propulsion System Simulation de la NASA.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Variables Opérationnelles : Altitude, Mach, Angle de la manette des gaz.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Télémétrie : 21 capteurs de haute précision (Températures, pressions, régimes moteurs).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Objectif MLOps : Observer la dégradation thermodynamique latente, invisible à l'œil nu, et la modéliser mathématiquement.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A2540"/>
                </a:solidFill>
                <a:latin typeface="Segoe UI"/>
              </a:defRPr>
            </a:pPr>
            <a:r>
              <a:t>3. DataOps : Le Générateur NASA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Dans le monde industriel, les données ne sont pas de simples fichiers plats. Ce sont des flux temporels.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scripts/generate_data.py : Un générateur stochastique qui simule des centaines de trajectoires de turbofans.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Bruit Gaussien : Des perturbations aléatoires sont injectées dans les signaux.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L'Output : Des objets JSON envoyés à très haute fréquence vers notre infrastructure.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A2540"/>
                </a:solidFill>
                <a:latin typeface="Segoe UI"/>
              </a:defRPr>
            </a:pPr>
            <a:r>
              <a:t>4. DataOps : L'Ingestion Kafka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Pour absorber le choc des capteurs envoyant des données à la milliseconde, l'architecture repose sur Apache Kafka.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Producer : Joue le rôle du moteur de l'avion, publiant ses événements en direct.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Consumer Pipeline : S'abonne au topic et traite la donnée par micro-batches asynchrones.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Résilience : Kafka garantit qu'aucune donnée n'est perdue, même si le serveur ML est indisponible.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A2540"/>
                </a:solidFill>
                <a:latin typeface="Segoe UI"/>
              </a:defRPr>
            </a:pPr>
            <a:r>
              <a:t>5. DataOps : Architecture Medaillon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Les données ingérées par Kafka traversent un pipeline rigoureux 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 Bronze : Sauvegarde immédiate du flux brut (Traçabilité stricte).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 Silver : Nettoyage drastique (valeurs manquantes, anomalies schématiques).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 Gold : Feature Engineering avancé. Calcul de moyennes glissantes et d'écarts-types sur 5 cycles. C'est ce qui donne au réseau de neurones la notion de dynamique d'usure.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A2540"/>
                </a:solidFill>
                <a:latin typeface="Segoe UI"/>
              </a:defRPr>
            </a:pPr>
            <a:r>
              <a:t>6. MLOps : Feast (Feature Store)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Un défi majeur en ML Industriel est le Training-Serving Skew.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Point-in-Time Correctness : Feast sauvegarde chaque caractéristique 'Gold' avec un horodatage précis (event_timestamp).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Prévention des Fuites : Cela évite le Data Leakage en garantissant que l'algorithme ne voit jamais de données 'du futur' lors de son entraînement historique.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A2540"/>
                </a:solidFill>
                <a:latin typeface="Segoe UI"/>
              </a:defRPr>
            </a:pPr>
            <a:r>
              <a:t>7. Deep Learning : Réseau Hybride Conv1D-LSTM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Prédire le RUL nécessite de comprendre la séquence temporelle. Un réseau classique échouerait.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 Conv1D : Extrait les caractéristiques spatiales et lisse le bruit télémétrique brutal.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 LSTM : Long Short-Term Memory. Elle analyse l'historique des 30 derniers cycles.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Couches Denses : Avec 20% de Dropout pour projeter ces représentations vers une prédiction de RUL continue.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A2540"/>
                </a:solidFill>
                <a:latin typeface="Segoe UI"/>
              </a:defRPr>
            </a:pPr>
            <a:r>
              <a:t>8. MLOps : Détection de Dérive (Data Drift)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L'IA en production devient obsolète si l'environnement physique change.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Évaluation Continue : MLflow surveille en permanence la Mean Absolute Error (MAE) du modèle en production.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Auto-Guérison : Si la MAE dépasse un seuil de tolérance (&gt; 1.2x la MAE initiale), MLflow entraîne automatiquement un modèle Challenger.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Déploiement : Si le Challenger est meilleur, il est promu à la volée en Production.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A2540"/>
                </a:solidFill>
                <a:latin typeface="Segoe UI"/>
              </a:defRPr>
            </a:pPr>
            <a:r>
              <a:t>8.1 Diagramme Architecture : DataOps &amp; MLOps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0058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t>Flux d'ingestion Kafka, Feature Store et orchestration des Modèles.</a:t>
            </a:r>
          </a:p>
        </p:txBody>
      </p:sp>
      <p:pic>
        <p:nvPicPr>
          <p:cNvPr id="5" name="Picture 4" descr="mlop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7" y="1645920"/>
            <a:ext cx="6858000" cy="22129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A2540"/>
                </a:solidFill>
                <a:latin typeface="Segoe UI"/>
              </a:defRPr>
            </a:pPr>
            <a:r>
              <a:t>9. Interface : TwinSense Dashboard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0058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t>Supervision Géospatiale Interactive au Kennedy Space Center.</a:t>
            </a:r>
          </a:p>
        </p:txBody>
      </p:sp>
      <p:pic>
        <p:nvPicPr>
          <p:cNvPr id="5" name="Picture 4" descr="screen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64592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A2540"/>
                </a:solidFill>
                <a:latin typeface="Segoe UI"/>
              </a:defRPr>
            </a:pPr>
            <a:r>
              <a:t>10. Interface : Supervision de Flotte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0058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t>Registre dynamique des moteurs turbofans (ENG_001, ENG_002...).</a:t>
            </a:r>
          </a:p>
        </p:txBody>
      </p:sp>
      <p:pic>
        <p:nvPicPr>
          <p:cNvPr id="5" name="Picture 4" descr="screenshot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64592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A2540"/>
                </a:solidFill>
                <a:latin typeface="Segoe UI"/>
              </a:defRPr>
            </a:pPr>
            <a:r>
              <a:t>11. Interface : Détails Télémétriques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0058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t>Croisement des capteurs CMAPSS et prédiction LSTM.</a:t>
            </a:r>
          </a:p>
        </p:txBody>
      </p:sp>
      <p:pic>
        <p:nvPicPr>
          <p:cNvPr id="5" name="Picture 4" descr="frontend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64592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A2540"/>
                </a:solidFill>
                <a:latin typeface="Segoe UI"/>
              </a:defRPr>
            </a:pPr>
            <a:r>
              <a:t>12. Interface : Analyses Avancées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0058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t>Tableaux de bord historiques des pannes.</a:t>
            </a:r>
          </a:p>
        </p:txBody>
      </p:sp>
      <p:pic>
        <p:nvPicPr>
          <p:cNvPr id="5" name="Picture 4" descr="screenshot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64592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A2540"/>
                </a:solidFill>
                <a:latin typeface="Segoe UI"/>
              </a:defRPr>
            </a:pPr>
            <a:r>
              <a:t>13. Interface : Centre d'Alertes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0058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t>Notifications MLOps en temps réel et dispatch d'équipes.</a:t>
            </a:r>
          </a:p>
        </p:txBody>
      </p:sp>
      <p:pic>
        <p:nvPicPr>
          <p:cNvPr id="5" name="Picture 4" descr="screenshot_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64592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A2540"/>
                </a:solidFill>
                <a:latin typeface="Segoe UI"/>
              </a:defRPr>
            </a:pPr>
            <a:r>
              <a:t>14. Discussion : Le Paradoxe du RUL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Le calcul du RUL a révélé un paradoxe industriel.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Le Biais de Simulation : Pour entraîner MLflow en temps réel, notre générateur a dû inclure le RUL futur dans le flux actuel.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La Réalité Industrielle : Il est mathématiquement impossible de connaître la panne future en pur temps réel.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Recommandation : L'architecture de production devrait isoler complètement l'Entraînement Batch (sur moteurs cassés) de l'Inférence Streaming.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A2540"/>
                </a:solidFill>
                <a:latin typeface="Segoe UI"/>
              </a:defRPr>
            </a:pPr>
            <a:r>
              <a:t>15. Conclusion &amp; Perspectives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Le Machine Learning Industriel n'est pas qu'une question d'algorithmes mathématiques. C'est l'art de maintenir ces algorithmes fiables face au chaos physique.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Kubernetes : Pour gérer 500+ avions simultanément, le pipeline doit migrer vers des Pods K8s.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WebSockets : Connecter l'API Python TensorFlow au Frontend via WebSockets pour du véritable Push Data.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TwinSense AI prouve qu'une télémétrie massive peut se transformer en décisions prescriptives autonomes.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