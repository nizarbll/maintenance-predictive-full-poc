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0055FF"/>
                </a:solidFill>
                <a:latin typeface="Segoe UI"/>
              </a:defRPr>
            </a:pPr>
            <a:r>
              <a:t>TwinSense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A2540"/>
                </a:solidFill>
                <a:latin typeface="Segoe UI"/>
              </a:defRPr>
            </a:pPr>
            <a:r>
              <a:t>ARCHITECTURE DATAOPS &amp; MLOPS POUR LA MAINTENANCE PRÉDICTIVE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53060" y="5029200"/>
            <a:ext cx="748557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E82"/>
                </a:solidFill>
                <a:latin typeface="Segoe UI"/>
              </a:defRPr>
            </a:pPr>
            <a:r>
              <a:rPr dirty="0"/>
              <a:t>Nizar </a:t>
            </a:r>
            <a:r>
              <a:rPr dirty="0" err="1"/>
              <a:t>Baloubali</a:t>
            </a:r>
            <a:r>
              <a:rPr dirty="0"/>
              <a:t> • Manal Es-</a:t>
            </a:r>
            <a:r>
              <a:rPr dirty="0" err="1"/>
              <a:t>sobhy</a:t>
            </a:r>
            <a:r>
              <a:rPr dirty="0"/>
              <a:t> • Anas El </a:t>
            </a:r>
            <a:r>
              <a:rPr dirty="0" err="1"/>
              <a:t>Maslouti</a:t>
            </a:r>
            <a:r>
              <a:rPr dirty="0"/>
              <a:t> • </a:t>
            </a:r>
            <a:r>
              <a:rPr dirty="0" err="1"/>
              <a:t>Nouaman</a:t>
            </a:r>
            <a:r>
              <a:rPr dirty="0"/>
              <a:t> Ch</a:t>
            </a:r>
            <a:r>
              <a:rPr lang="fr-FR" dirty="0"/>
              <a:t>a</a:t>
            </a:r>
            <a:r>
              <a:rPr dirty="0" err="1"/>
              <a:t>aibi</a:t>
            </a:r>
            <a:r>
              <a:rPr dirty="0"/>
              <a:t> • Amine </a:t>
            </a:r>
            <a:r>
              <a:rPr dirty="0" err="1"/>
              <a:t>Ait</a:t>
            </a:r>
            <a:r>
              <a:rPr dirty="0"/>
              <a:t> </a:t>
            </a:r>
            <a:r>
              <a:rPr dirty="0" err="1"/>
              <a:t>Hamma</a:t>
            </a:r>
            <a:br>
              <a:rPr dirty="0"/>
            </a:br>
            <a:r>
              <a:rPr dirty="0" err="1"/>
              <a:t>Encadré</a:t>
            </a:r>
            <a:r>
              <a:rPr dirty="0"/>
              <a:t> par : Mr. El Hajji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2540"/>
                </a:solidFill>
                <a:latin typeface="Segoe UI"/>
              </a:defRPr>
            </a:pPr>
            <a:r>
              <a:t>1. L'Enjeu Industriel de l'Aérospatiale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280160"/>
            <a:ext cx="2011680" cy="0"/>
          </a:xfrm>
          <a:prstGeom prst="line">
            <a:avLst/>
          </a:prstGeom>
          <a:ln w="25400">
            <a:solidFill>
              <a:srgbClr val="00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Le secteur aérospatial ne tolère aucune marge d'erreur.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Les défaillances de moteurs en plein vol entraînent des conséquences catastrophiques.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• Maintenance Réactive (Run-to-Failure) : Inenvisageable sur des turbofans critiques.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• Maintenance Préventive : Remplacement à intervalles fixes gaspille des pièces saines.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Notre Solution : La Maintenance Prédictive.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Prédire la Durée de Vie Résiduelle (RUL) grâce au Machine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2540"/>
                </a:solidFill>
                <a:latin typeface="Segoe UI"/>
              </a:defRPr>
            </a:pPr>
            <a:r>
              <a:t>2. Fondation des Données : NASA CMAPSS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280160"/>
            <a:ext cx="2011680" cy="0"/>
          </a:xfrm>
          <a:prstGeom prst="line">
            <a:avLst/>
          </a:prstGeom>
          <a:ln w="25400">
            <a:solidFill>
              <a:srgbClr val="00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Pour simuler fidèlement ce comportement, nous avons exploité le Commercial Modular Aero-Propulsion System Simulation de la NASA.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• Variables Opérationnelles : Altitude, Mach, Angle de la manette des gaz.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• Télémétrie : 21 capteurs de haute précision (Températures, pressions, régimes moteurs).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• Objectif MLOps : Observer la dégradation thermodynamique latente, invisible à l'œil nu, et la modéliser mathématiquement.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2540"/>
                </a:solidFill>
                <a:latin typeface="Segoe UI"/>
              </a:defRPr>
            </a:pPr>
            <a:r>
              <a:t>3. DataOps : Le Générateur NASA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280160"/>
            <a:ext cx="2011680" cy="0"/>
          </a:xfrm>
          <a:prstGeom prst="line">
            <a:avLst/>
          </a:prstGeom>
          <a:ln w="25400">
            <a:solidFill>
              <a:srgbClr val="00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Dans le monde industriel, les données ne sont pas de simples fichiers plats. Ce sont des flux temporels.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• scripts/generate_data.py : Un générateur stochastique qui simule des centaines de trajectoires de turbofans.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• Bruit Gaussien : Des perturbations aléatoires sont injectées dans les signaux.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• L'Output : Des objets JSON envoyés à très haute fréquence vers notre infrastructure.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2540"/>
                </a:solidFill>
                <a:latin typeface="Segoe UI"/>
              </a:defRPr>
            </a:pPr>
            <a:r>
              <a:t>4. DataOps : L'Ingestion Kafka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280160"/>
            <a:ext cx="2011680" cy="0"/>
          </a:xfrm>
          <a:prstGeom prst="line">
            <a:avLst/>
          </a:prstGeom>
          <a:ln w="25400">
            <a:solidFill>
              <a:srgbClr val="00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Pour absorber le choc des capteurs envoyant des données à la milliseconde, l'architecture repose sur Apache Kafka.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• Producer : Joue le rôle du moteur de l'avion, publiant ses événements en direct.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• Consumer Pipeline : S'abonne au topic et traite la donnée par micro-batches asynchrones.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• Résilience : Kafka garantit qu'aucune donnée n'est perdue, même si le serveur ML est indisponible.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2540"/>
                </a:solidFill>
                <a:latin typeface="Segoe UI"/>
              </a:defRPr>
            </a:pPr>
            <a:r>
              <a:t>5. DataOps : Architecture Medaillon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280160"/>
            <a:ext cx="2011680" cy="0"/>
          </a:xfrm>
          <a:prstGeom prst="line">
            <a:avLst/>
          </a:prstGeom>
          <a:ln w="25400">
            <a:solidFill>
              <a:srgbClr val="00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Les données ingérées par Kafka traversent un pipeline rigoureux 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• Couche Bronze : Sauvegarde immédiate du flux brut (Traçabilité stricte).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• Couche Silver : Nettoyage drastique (valeurs manquantes, anomalies schématiques).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• Couche Gold : Feature Engineering avancé. Calcul de moyennes glissantes et d'écarts-types sur 5 cycles. C'est ce qui donne au réseau de neurones la notion de dynamique d'usure.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2540"/>
                </a:solidFill>
                <a:latin typeface="Segoe UI"/>
              </a:defRPr>
            </a:pPr>
            <a:r>
              <a:t>6. MLOps : Feast (Feature Store)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280160"/>
            <a:ext cx="2011680" cy="0"/>
          </a:xfrm>
          <a:prstGeom prst="line">
            <a:avLst/>
          </a:prstGeom>
          <a:ln w="25400">
            <a:solidFill>
              <a:srgbClr val="00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Un défi majeur en ML Industriel est le Training-Serving Skew.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• Point-in-Time Correctness : Feast sauvegarde chaque caractéristique 'Gold' avec un horodatage précis (event_timestamp).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• Prévention des Fuites : Cela évite le Data Leakage en garantissant que l'algorithme ne voit jamais de données 'du futur' lors de son entraînement historique.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2540"/>
                </a:solidFill>
                <a:latin typeface="Segoe UI"/>
              </a:defRPr>
            </a:pPr>
            <a:r>
              <a:t>7. Deep Learning : Réseau Hybride Conv1D-LSTM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280160"/>
            <a:ext cx="2011680" cy="0"/>
          </a:xfrm>
          <a:prstGeom prst="line">
            <a:avLst/>
          </a:prstGeom>
          <a:ln w="25400">
            <a:solidFill>
              <a:srgbClr val="00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Prédire le RUL nécessite de comprendre la séquence temporelle. Un réseau classique échouerait.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• Couche Conv1D : Extrait les caractéristiques spatiales et lisse le bruit télémétrique brutal.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• Couche LSTM : Long Short-Term Memory. Elle analyse l'historique des 30 derniers cycles.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• Couches Denses : Avec 20% de Dropout pour projeter ces représentations vers une prédiction de RUL continue.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2540"/>
                </a:solidFill>
                <a:latin typeface="Segoe UI"/>
              </a:defRPr>
            </a:pPr>
            <a:r>
              <a:t>8. MLOps : Détection de Dérive (Data Drift)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280160"/>
            <a:ext cx="2011680" cy="0"/>
          </a:xfrm>
          <a:prstGeom prst="line">
            <a:avLst/>
          </a:prstGeom>
          <a:ln w="25400">
            <a:solidFill>
              <a:srgbClr val="00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L'IA en production devient obsolète si l'environnement physique change.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• Évaluation Continue : MLflow surveille en permanence la Mean Absolute Error (MAE) du modèle en production.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• Auto-Guérison : Si la MAE dépasse un seuil de tolérance (&gt; 1.2x la MAE initiale), MLflow entraîne automatiquement un modèle Challenger.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• Déploiement : Si le Challenger est meilleur, il est promu à la volée en Production.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2540"/>
                </a:solidFill>
                <a:latin typeface="Segoe UI"/>
              </a:defRPr>
            </a:pPr>
            <a:r>
              <a:t>8.1 Diagramme Architecture : DataOps &amp; MLOps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188720"/>
            <a:ext cx="2011680" cy="0"/>
          </a:xfrm>
          <a:prstGeom prst="line">
            <a:avLst/>
          </a:prstGeom>
          <a:ln w="25400">
            <a:solidFill>
              <a:srgbClr val="00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005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E82"/>
                </a:solidFill>
                <a:latin typeface="Segoe UI"/>
              </a:defRPr>
            </a:pPr>
            <a:r>
              <a:t>Flux d'ingestion Kafka, Feature Store et orchestration des Modèles.</a:t>
            </a:r>
          </a:p>
        </p:txBody>
      </p:sp>
      <p:pic>
        <p:nvPicPr>
          <p:cNvPr id="5" name="Picture 4" descr="mlop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847" y="1645920"/>
            <a:ext cx="6858000" cy="2212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2540"/>
                </a:solidFill>
                <a:latin typeface="Segoe UI"/>
              </a:defRPr>
            </a:pPr>
            <a:r>
              <a:t>9. Interface : TwinSense Dashboard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188720"/>
            <a:ext cx="2011680" cy="0"/>
          </a:xfrm>
          <a:prstGeom prst="line">
            <a:avLst/>
          </a:prstGeom>
          <a:ln w="25400">
            <a:solidFill>
              <a:srgbClr val="00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005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E82"/>
                </a:solidFill>
                <a:latin typeface="Segoe UI"/>
              </a:defRPr>
            </a:pPr>
            <a:r>
              <a:t>Supervision Géospatiale Interactive au Kennedy Space Center.</a:t>
            </a:r>
          </a:p>
        </p:txBody>
      </p:sp>
      <p:pic>
        <p:nvPicPr>
          <p:cNvPr id="5" name="Picture 4" descr="screensho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47" y="164592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2540"/>
                </a:solidFill>
                <a:latin typeface="Segoe UI"/>
              </a:defRPr>
            </a:pPr>
            <a:r>
              <a:t>10. Interface : Supervision de Flotte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188720"/>
            <a:ext cx="2011680" cy="0"/>
          </a:xfrm>
          <a:prstGeom prst="line">
            <a:avLst/>
          </a:prstGeom>
          <a:ln w="25400">
            <a:solidFill>
              <a:srgbClr val="00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005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E82"/>
                </a:solidFill>
                <a:latin typeface="Segoe UI"/>
              </a:defRPr>
            </a:pPr>
            <a:r>
              <a:t>Registre dynamique des moteurs turbofans (ENG_001, ENG_002...).</a:t>
            </a:r>
          </a:p>
        </p:txBody>
      </p:sp>
      <p:pic>
        <p:nvPicPr>
          <p:cNvPr id="5" name="Picture 4" descr="screenshot_mach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47" y="164592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2540"/>
                </a:solidFill>
                <a:latin typeface="Segoe UI"/>
              </a:defRPr>
            </a:pPr>
            <a:r>
              <a:t>11. Interface : Détails Télémétriques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188720"/>
            <a:ext cx="2011680" cy="0"/>
          </a:xfrm>
          <a:prstGeom prst="line">
            <a:avLst/>
          </a:prstGeom>
          <a:ln w="25400">
            <a:solidFill>
              <a:srgbClr val="00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005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E82"/>
                </a:solidFill>
                <a:latin typeface="Segoe UI"/>
              </a:defRPr>
            </a:pPr>
            <a:r>
              <a:t>Croisement des capteurs CMAPSS et prédiction LSTM.</a:t>
            </a:r>
          </a:p>
        </p:txBody>
      </p:sp>
      <p:pic>
        <p:nvPicPr>
          <p:cNvPr id="5" name="Picture 4" descr="frontend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47" y="164592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2540"/>
                </a:solidFill>
                <a:latin typeface="Segoe UI"/>
              </a:defRPr>
            </a:pPr>
            <a:r>
              <a:t>12. Interface : Analyses Avancées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188720"/>
            <a:ext cx="2011680" cy="0"/>
          </a:xfrm>
          <a:prstGeom prst="line">
            <a:avLst/>
          </a:prstGeom>
          <a:ln w="25400">
            <a:solidFill>
              <a:srgbClr val="00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005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E82"/>
                </a:solidFill>
                <a:latin typeface="Segoe UI"/>
              </a:defRPr>
            </a:pPr>
            <a:r>
              <a:t>Tableaux de bord historiques des pannes.</a:t>
            </a:r>
          </a:p>
        </p:txBody>
      </p:sp>
      <p:pic>
        <p:nvPicPr>
          <p:cNvPr id="5" name="Picture 4" descr="screenshot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47" y="164592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2540"/>
                </a:solidFill>
                <a:latin typeface="Segoe UI"/>
              </a:defRPr>
            </a:pPr>
            <a:r>
              <a:t>13. Interface : Centre d'Alertes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188720"/>
            <a:ext cx="2011680" cy="0"/>
          </a:xfrm>
          <a:prstGeom prst="line">
            <a:avLst/>
          </a:prstGeom>
          <a:ln w="25400">
            <a:solidFill>
              <a:srgbClr val="00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005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E82"/>
                </a:solidFill>
                <a:latin typeface="Segoe UI"/>
              </a:defRPr>
            </a:pPr>
            <a:r>
              <a:t>Notifications MLOps en temps réel et dispatch d'équipes.</a:t>
            </a:r>
          </a:p>
        </p:txBody>
      </p:sp>
      <p:pic>
        <p:nvPicPr>
          <p:cNvPr id="5" name="Picture 4" descr="screenshot_al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47" y="164592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2540"/>
                </a:solidFill>
                <a:latin typeface="Segoe UI"/>
              </a:defRPr>
            </a:pPr>
            <a:r>
              <a:t>14. Discussion : Le Paradoxe du RUL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280160"/>
            <a:ext cx="2011680" cy="0"/>
          </a:xfrm>
          <a:prstGeom prst="line">
            <a:avLst/>
          </a:prstGeom>
          <a:ln w="25400">
            <a:solidFill>
              <a:srgbClr val="00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Le calcul du RUL a révélé un paradoxe industriel.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• Le Biais de Simulation : Pour entraîner MLflow en temps réel, notre générateur a dû inclure le RUL futur dans le flux actuel.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• La Réalité Industrielle : Il est mathématiquement impossible de connaître la panne future en pur temps réel.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• Recommandation : L'architecture de production devrait isoler complètement l'Entraînement Batch (sur moteurs cassés) de l'Inférence Streaming.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2540"/>
                </a:solidFill>
                <a:latin typeface="Segoe UI"/>
              </a:defRPr>
            </a:pPr>
            <a:r>
              <a:t>15. Conclusion &amp; Perspectives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280160"/>
            <a:ext cx="2011680" cy="0"/>
          </a:xfrm>
          <a:prstGeom prst="line">
            <a:avLst/>
          </a:prstGeom>
          <a:ln w="25400">
            <a:solidFill>
              <a:srgbClr val="00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Le Machine Learning Industriel n'est pas qu'une question d'algorithmes mathématiques. C'est l'art de maintenir ces algorithmes fiables face au chaos physique.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• Kubernetes : Pour gérer 500+ avions simultanément, le pipeline doit migrer vers des Pods K8s.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• WebSockets : Connecter l'API Python TensorFlow au Frontend via WebSockets pour du véritable Push Data.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spcAft>
                <a:spcPts val="400"/>
              </a:spcAft>
              <a:defRPr sz="1800" b="0">
                <a:solidFill>
                  <a:srgbClr val="3C4257"/>
                </a:solidFill>
                <a:latin typeface="Segoe UI"/>
              </a:defRPr>
            </a:pPr>
            <a:r>
              <a:t>TwinSense AI prouve qu'une télémétrie massive peut se transformer en décisions prescriptives autonomes.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894</Words>
  <Application>Microsoft Office PowerPoint</Application>
  <PresentationFormat>Grand écran</PresentationFormat>
  <Paragraphs>78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Arial</vt:lpstr>
      <vt:lpstr>Calibri</vt:lpstr>
      <vt:lpstr>Segoe UI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NOUAMAN CHAAIBI</cp:lastModifiedBy>
  <cp:revision>3</cp:revision>
  <dcterms:created xsi:type="dcterms:W3CDTF">2013-01-27T09:14:16Z</dcterms:created>
  <dcterms:modified xsi:type="dcterms:W3CDTF">2026-06-20T17:58:44Z</dcterms:modified>
  <cp:category/>
</cp:coreProperties>
</file>